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24"/>
    <p:restoredTop sz="94671"/>
  </p:normalViewPr>
  <p:slideViewPr>
    <p:cSldViewPr snapToGrid="0" snapToObjects="1">
      <p:cViewPr varScale="1">
        <p:scale>
          <a:sx n="93" d="100"/>
          <a:sy n="93" d="100"/>
        </p:scale>
        <p:origin x="240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74320" cy="54864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000" b="1">
                <a:solidFill>
                  <a:srgbClr val="101010"/>
                </a:solidFill>
                <a:latin typeface="Tajawal"/>
              </a:rPr>
              <a:t>مُنفذ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200" b="0">
                <a:solidFill>
                  <a:srgbClr val="6D6257"/>
                </a:solidFill>
                <a:latin typeface="Tajawal"/>
              </a:rPr>
              <a:t>اقرأ بصوتٍ طبيعي. باللغة العربية. على جهازك.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68C7F"/>
                </a:solidFill>
                <a:latin typeface="Tajawal"/>
              </a:rPr>
              <a:t>Mada Innovation Award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E85D2C"/>
                </a:solidFill>
                <a:latin typeface="Tajawal"/>
              </a:rPr>
              <a:t>المشكلة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631375" y="1005840"/>
            <a:ext cx="27432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6400" b="1">
                <a:solidFill>
                  <a:srgbClr val="101010"/>
                </a:solidFill>
                <a:latin typeface="Tajawal"/>
              </a:rPr>
              <a:t>ملايين القراء العرب
بلا أداة قراءة ميسّرة.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2000" b="0">
                <a:solidFill>
                  <a:srgbClr val="6D6257"/>
                </a:solidFill>
                <a:latin typeface="Tajawal"/>
              </a:rPr>
              <a:t>الأدوات العالمية مكلفة، وأصوات العربية فيها آلية وغير مفهومة، وكثير من ملفات الـ PDF غير قابلة للوصول أصلاً.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منفذ  ·  mnfz.tech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695" y="5029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E85D2C"/>
                </a:solidFill>
                <a:latin typeface="Tajawal"/>
              </a:rPr>
              <a:t>الحل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-12620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4000" b="1">
                <a:solidFill>
                  <a:srgbClr val="101010"/>
                </a:solidFill>
                <a:latin typeface="Tajawal"/>
              </a:rPr>
              <a:t>منفذ يفتح كل PDF بصوت طبيعي.</a:t>
            </a:r>
          </a:p>
        </p:txBody>
      </p:sp>
      <p:pic>
        <p:nvPicPr>
          <p:cNvPr id="5" name="Picture 4" descr="hom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3" y="571500"/>
            <a:ext cx="10058400" cy="62865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sp>
        <p:nvSpPr>
          <p:cNvPr id="6" name="TextBox 5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31375" y="6400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E85D2C"/>
                </a:solidFill>
                <a:latin typeface="Tajawal"/>
              </a:rPr>
              <a:t>كيف يعمل</a:t>
            </a:r>
          </a:p>
        </p:txBody>
      </p:sp>
      <p:sp>
        <p:nvSpPr>
          <p:cNvPr id="4" name="Rectangle 3"/>
          <p:cNvSpPr/>
          <p:nvPr/>
        </p:nvSpPr>
        <p:spPr>
          <a:xfrm>
            <a:off x="9357055" y="1005840"/>
            <a:ext cx="27432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4400" b="1">
                <a:solidFill>
                  <a:srgbClr val="101010"/>
                </a:solidFill>
                <a:latin typeface="Tajawal"/>
              </a:rPr>
              <a:t>ثلاث خطوات.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587" y="2651760"/>
            <a:ext cx="3520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200" b="1">
                <a:solidFill>
                  <a:srgbClr val="E85D2C"/>
                </a:solidFill>
                <a:latin typeface="SF Pro Display"/>
              </a:rPr>
              <a:t>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3840480"/>
            <a:ext cx="3520440" cy="41395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200" b="1">
                <a:solidFill>
                  <a:srgbClr val="101010"/>
                </a:solidFill>
                <a:latin typeface="Tajawal"/>
              </a:rPr>
              <a:t>اختر ملف </a:t>
            </a:r>
            <a:r>
              <a:rPr lang="en-GB" sz="2200" b="1">
                <a:solidFill>
                  <a:srgbClr val="101010"/>
                </a:solidFill>
                <a:latin typeface="Tajawal"/>
              </a:rPr>
              <a:t> </a:t>
            </a:r>
            <a:endParaRPr sz="2200" b="1">
              <a:solidFill>
                <a:srgbClr val="101010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587" y="4480560"/>
            <a:ext cx="352044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اسحب الملف أو اختره — يُفهرس منفذ النص تلقائياً مع الحفاظ على ترتيب القراءة العربي.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5627" y="2651760"/>
            <a:ext cx="3520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200" b="1">
                <a:solidFill>
                  <a:srgbClr val="E85D2C"/>
                </a:solidFill>
                <a:latin typeface="SF Pro Display"/>
              </a:rPr>
              <a:t>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5627" y="3840480"/>
            <a:ext cx="35204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200" b="1">
                <a:solidFill>
                  <a:srgbClr val="101010"/>
                </a:solidFill>
                <a:latin typeface="Tajawal"/>
              </a:rPr>
              <a:t>اضغط لتسمع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5627" y="4480560"/>
            <a:ext cx="352044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اضغط على أي فقرة لتُنطق فوراً بصوت عربي عصبي طبيعي، مع تمييز كل كلمة أثناء النطق.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4667" y="2651760"/>
            <a:ext cx="3520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200" b="1">
                <a:solidFill>
                  <a:srgbClr val="E85D2C"/>
                </a:solidFill>
                <a:latin typeface="SF Pro Display"/>
              </a:rPr>
              <a:t>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4667" y="3840480"/>
            <a:ext cx="35204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200" b="1">
                <a:solidFill>
                  <a:srgbClr val="101010"/>
                </a:solidFill>
                <a:latin typeface="Tajawal"/>
              </a:rPr>
              <a:t>تابع من حيث توقفت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4667" y="4480560"/>
            <a:ext cx="352044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يحفظ منفذ موضع قراءتك تلقائياً، وزر متابعة فوري في مكتبتك الشخصية.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695" y="5029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FFB17A"/>
                </a:solidFill>
                <a:latin typeface="Tajawal"/>
              </a:rPr>
              <a:t>للقراءة الطويلة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8953" y="137160"/>
            <a:ext cx="10972800" cy="6538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3600" b="1">
                <a:solidFill>
                  <a:srgbClr val="ECE6DC"/>
                </a:solidFill>
                <a:latin typeface="Tajawal"/>
              </a:rPr>
              <a:t>مصمم لساعات من القراءة، لا دقائق</a:t>
            </a:r>
            <a:r>
              <a:rPr lang="ar-SA" sz="3600" b="1">
                <a:solidFill>
                  <a:srgbClr val="ECE6DC"/>
                </a:solidFill>
                <a:latin typeface="Tajawal"/>
              </a:rPr>
              <a:t> ومتوفر بالوضع الليلي!</a:t>
            </a:r>
            <a:endParaRPr sz="3600" b="1">
              <a:solidFill>
                <a:srgbClr val="ECE6DC"/>
              </a:solidFill>
              <a:latin typeface="Tajawal"/>
            </a:endParaRPr>
          </a:p>
        </p:txBody>
      </p:sp>
      <p:pic>
        <p:nvPicPr>
          <p:cNvPr id="5" name="Picture 4" descr="hom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708660"/>
            <a:ext cx="9034272" cy="5646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D6257"/>
                </a:solidFill>
                <a:latin typeface="Tajaw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E85D2C"/>
                </a:solidFill>
                <a:latin typeface="Tajawal"/>
              </a:rPr>
              <a:t>المزايا</a:t>
            </a:r>
          </a:p>
        </p:txBody>
      </p:sp>
      <p:sp>
        <p:nvSpPr>
          <p:cNvPr id="4" name="Rectangle 3"/>
          <p:cNvSpPr/>
          <p:nvPr/>
        </p:nvSpPr>
        <p:spPr>
          <a:xfrm>
            <a:off x="9631375" y="1005840"/>
            <a:ext cx="27432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4400" b="1">
                <a:solidFill>
                  <a:srgbClr val="101010"/>
                </a:solidFill>
                <a:latin typeface="Tajawal"/>
              </a:rPr>
              <a:t>أربع مزايا.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651760"/>
            <a:ext cx="22860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2788920"/>
            <a:ext cx="5212080" cy="41395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200" b="1">
                <a:solidFill>
                  <a:srgbClr val="101010"/>
                </a:solidFill>
                <a:latin typeface="Tajawal"/>
              </a:rPr>
              <a:t>أصوات </a:t>
            </a:r>
            <a:r>
              <a:rPr lang="ar-SA" sz="2200" b="1">
                <a:solidFill>
                  <a:srgbClr val="101010"/>
                </a:solidFill>
                <a:latin typeface="Tajawal"/>
              </a:rPr>
              <a:t>عربية</a:t>
            </a:r>
            <a:endParaRPr sz="2200" b="1">
              <a:solidFill>
                <a:srgbClr val="101010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5080" y="342900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Azure Neural و Kokoro — عربية طبيعية مفهومة.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2860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200" b="1">
                <a:solidFill>
                  <a:srgbClr val="101010"/>
                </a:solidFill>
                <a:latin typeface="Tajawal"/>
              </a:rPr>
              <a:t>تمييز كلمة بكلمة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كل كلمة تُضيء أثناء النطق، للقراءة الموجَّهة.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572000"/>
            <a:ext cx="22860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470916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200" b="1">
                <a:solidFill>
                  <a:srgbClr val="101010"/>
                </a:solidFill>
                <a:latin typeface="Tajawal"/>
              </a:rPr>
              <a:t>يعمل دون إنترنت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34924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نسخة سطح المكتب تشغّل كل شيء محلياً، بخصوصية كاملة.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72000"/>
            <a:ext cx="22860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212080" cy="41395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200" b="1">
                <a:solidFill>
                  <a:srgbClr val="101010"/>
                </a:solidFill>
                <a:latin typeface="Tajawal"/>
              </a:rPr>
              <a:t>وصولية </a:t>
            </a:r>
            <a:r>
              <a:rPr lang="ar-SA" sz="2200" b="1">
                <a:solidFill>
                  <a:srgbClr val="101010"/>
                </a:solidFill>
                <a:latin typeface="Tajawal"/>
              </a:rPr>
              <a:t>مراعية للغة العربية</a:t>
            </a:r>
            <a:endParaRPr sz="2200" b="1">
              <a:solidFill>
                <a:srgbClr val="101010"/>
              </a:solidFill>
              <a:latin typeface="Tajaw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وضع داكن، تكبير، اختصارات، دعم قارئ الشاشة.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6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منفذ  ·  mnfz.tech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E85D2C"/>
                </a:solidFill>
                <a:latin typeface="Tajawal"/>
              </a:rPr>
              <a:t>لمن</a:t>
            </a:r>
          </a:p>
        </p:txBody>
      </p:sp>
      <p:sp>
        <p:nvSpPr>
          <p:cNvPr id="4" name="Rectangle 3"/>
          <p:cNvSpPr/>
          <p:nvPr/>
        </p:nvSpPr>
        <p:spPr>
          <a:xfrm>
            <a:off x="9631375" y="1005840"/>
            <a:ext cx="27432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4400" b="1">
                <a:solidFill>
                  <a:srgbClr val="101010"/>
                </a:solidFill>
                <a:latin typeface="Tajawal"/>
              </a:rPr>
              <a:t>أربع فئات نخدمها.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65176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600" b="1">
                <a:solidFill>
                  <a:srgbClr val="101010"/>
                </a:solidFill>
                <a:latin typeface="Tajawal"/>
              </a:rPr>
              <a:t>مكفوفون وضعاف بصر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342900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بديل عربي مجاني لقراءة الكتب والوثائق بصوت طبيعي.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600" b="1">
                <a:solidFill>
                  <a:srgbClr val="101010"/>
                </a:solidFill>
                <a:latin typeface="Tajawal"/>
              </a:rPr>
              <a:t>ذوو عسر القراءة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تمييز الكلمة المنطوقة يبني جسراً بين الصوت والنص.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57200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600" b="1">
                <a:solidFill>
                  <a:srgbClr val="101010"/>
                </a:solidFill>
                <a:latin typeface="Tajawal"/>
              </a:rPr>
              <a:t>كبار السن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34924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خط كبير، واجهة بسيطة، زر تشغيل واحد.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2600" b="1">
                <a:solidFill>
                  <a:srgbClr val="101010"/>
                </a:solidFill>
                <a:latin typeface="Tajawal"/>
              </a:rPr>
              <a:t>طلاب وباحثون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400" b="0">
                <a:solidFill>
                  <a:srgbClr val="6D6257"/>
                </a:solidFill>
                <a:latin typeface="Tajawal"/>
              </a:rPr>
              <a:t>استمع للأبحاث والكتب أثناء التنقل أو الإجهاد البصري.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7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منفذ  ·  mnfz.tech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695" y="5029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E85D2C"/>
                </a:solidFill>
                <a:latin typeface="Tajawal"/>
              </a:rPr>
              <a:t>حيث ما كنت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3600" b="1">
                <a:solidFill>
                  <a:srgbClr val="101010"/>
                </a:solidFill>
                <a:latin typeface="Tajawal"/>
              </a:rPr>
              <a:t>سطح المكتب، الجوال، والمتصفح.</a:t>
            </a:r>
          </a:p>
        </p:txBody>
      </p:sp>
      <p:pic>
        <p:nvPicPr>
          <p:cNvPr id="5" name="Picture 4" descr="mobil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111453" cy="4572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her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046" y="2407920"/>
            <a:ext cx="8751815" cy="29718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68C7F"/>
                </a:solidFill>
                <a:latin typeface="Tajawal"/>
              </a:rPr>
              <a:t>macOS  ·  Windows  ·  Linux  ·  iOS قادم  ·  أي متصفح حديث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100" b="1">
                <a:solidFill>
                  <a:srgbClr val="E85D2C"/>
                </a:solidFill>
                <a:latin typeface="Tajawal"/>
              </a:rPr>
              <a:t>الخطة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631375" y="1005840"/>
            <a:ext cx="274320" cy="36576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4400" b="1">
                <a:solidFill>
                  <a:srgbClr val="101010"/>
                </a:solidFill>
                <a:latin typeface="Tajawal"/>
              </a:rPr>
              <a:t>ماذا يُمكّنه دعم مدى.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0332720" cy="36576"/>
          </a:xfrm>
          <a:prstGeom prst="rect">
            <a:avLst/>
          </a:prstGeom>
          <a:solidFill>
            <a:srgbClr val="E0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96262" y="3803904"/>
            <a:ext cx="219456" cy="219456"/>
          </a:xfrm>
          <a:prstGeom prst="ellipse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5831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85D2C"/>
                </a:solidFill>
                <a:latin typeface="SF Pro Display"/>
              </a:rPr>
              <a:t>Q4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25831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101010"/>
                </a:solidFill>
                <a:latin typeface="Tajawal"/>
              </a:rPr>
              <a:t>إطلاق رسمي
وشراكات تعليمية</a:t>
            </a:r>
          </a:p>
        </p:txBody>
      </p:sp>
      <p:sp>
        <p:nvSpPr>
          <p:cNvPr id="10" name="Oval 9"/>
          <p:cNvSpPr/>
          <p:nvPr/>
        </p:nvSpPr>
        <p:spPr>
          <a:xfrm>
            <a:off x="4679442" y="3803904"/>
            <a:ext cx="219456" cy="219456"/>
          </a:xfrm>
          <a:prstGeom prst="ellipse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7580" y="2926080"/>
            <a:ext cx="25831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85D2C"/>
                </a:solidFill>
                <a:latin typeface="SF Pro Display"/>
              </a:rPr>
              <a:t>Q1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343400"/>
            <a:ext cx="25831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101010"/>
                </a:solidFill>
                <a:latin typeface="Tajawal"/>
              </a:rPr>
              <a:t>EPUB · DOCX · OCR
للنص الممسوح</a:t>
            </a:r>
          </a:p>
        </p:txBody>
      </p:sp>
      <p:sp>
        <p:nvSpPr>
          <p:cNvPr id="13" name="Oval 12"/>
          <p:cNvSpPr/>
          <p:nvPr/>
        </p:nvSpPr>
        <p:spPr>
          <a:xfrm>
            <a:off x="7262622" y="3803904"/>
            <a:ext cx="219456" cy="219456"/>
          </a:xfrm>
          <a:prstGeom prst="ellipse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2926080"/>
            <a:ext cx="25831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85D2C"/>
                </a:solidFill>
                <a:latin typeface="SF Pro Display"/>
              </a:rPr>
              <a:t>Q2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343400"/>
            <a:ext cx="25831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101010"/>
                </a:solidFill>
                <a:latin typeface="Tajawal"/>
              </a:rPr>
              <a:t>نسخة iOS
وأصوات عربية إضافية</a:t>
            </a:r>
          </a:p>
        </p:txBody>
      </p:sp>
      <p:sp>
        <p:nvSpPr>
          <p:cNvPr id="16" name="Oval 15"/>
          <p:cNvSpPr/>
          <p:nvPr/>
        </p:nvSpPr>
        <p:spPr>
          <a:xfrm>
            <a:off x="9845802" y="3803904"/>
            <a:ext cx="219456" cy="219456"/>
          </a:xfrm>
          <a:prstGeom prst="ellipse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3940" y="2926080"/>
            <a:ext cx="25831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85D2C"/>
                </a:solidFill>
                <a:latin typeface="SF Pro Display"/>
              </a:rPr>
              <a:t>Q3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3940" y="4343400"/>
            <a:ext cx="25831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101010"/>
                </a:solidFill>
                <a:latin typeface="Tajawal"/>
              </a:rPr>
              <a:t>برنامج تدريب
للمعلمين والمستخدمين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3550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9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68C7F"/>
                </a:solidFill>
                <a:latin typeface="Tajawal"/>
              </a:rPr>
              <a:t>منفذ  ·  mnfz.tech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5800" b="1">
                <a:solidFill>
                  <a:srgbClr val="F7EFE2"/>
                </a:solidFill>
                <a:latin typeface="Tajawal"/>
              </a:rPr>
              <a:t>نحو إتاحة المعرفة
لكل قارئ عربي.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B17A"/>
                </a:solidFill>
                <a:latin typeface="Tajawal"/>
              </a:rPr>
              <a:t>Mada Innovation Award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354</Words>
  <Application>Microsoft Macintosh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SF Pro Display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Abdelrhman Rayis</cp:lastModifiedBy>
  <cp:revision>2</cp:revision>
  <dcterms:created xsi:type="dcterms:W3CDTF">2013-01-27T09:14:16Z</dcterms:created>
  <dcterms:modified xsi:type="dcterms:W3CDTF">2026-05-25T20:08:15Z</dcterms:modified>
  <cp:category/>
</cp:coreProperties>
</file>